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1097280" y="4389120"/>
            <a:ext cx="1737360" cy="868680"/>
          </a:xfrm>
          <a:prstGeom prst="line">
            <a:avLst/>
          </a:prstGeom>
          <a:ln w="63500">
            <a:solidFill>
              <a:srgbClr val="E87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34640" y="4389120"/>
            <a:ext cx="1554480" cy="411480"/>
          </a:xfrm>
          <a:prstGeom prst="line">
            <a:avLst/>
          </a:prstGeom>
          <a:ln w="63500">
            <a:solidFill>
              <a:srgbClr val="E87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389120" y="3657600"/>
            <a:ext cx="1645920" cy="1143000"/>
          </a:xfrm>
          <a:prstGeom prst="line">
            <a:avLst/>
          </a:prstGeom>
          <a:ln w="63500">
            <a:solidFill>
              <a:srgbClr val="E87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35040" y="3657600"/>
            <a:ext cx="1554480" cy="594360"/>
          </a:xfrm>
          <a:prstGeom prst="line">
            <a:avLst/>
          </a:prstGeom>
          <a:ln w="63500">
            <a:solidFill>
              <a:srgbClr val="E87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589520" y="2834640"/>
            <a:ext cx="1645920" cy="1417320"/>
          </a:xfrm>
          <a:prstGeom prst="line">
            <a:avLst/>
          </a:prstGeom>
          <a:ln w="63500">
            <a:solidFill>
              <a:srgbClr val="E87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235440" y="2148840"/>
            <a:ext cx="1645920" cy="685800"/>
          </a:xfrm>
          <a:prstGeom prst="line">
            <a:avLst/>
          </a:prstGeom>
          <a:ln w="63500">
            <a:solidFill>
              <a:srgbClr val="E878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96695" y="5157216"/>
            <a:ext cx="201168" cy="20116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34056" y="4288536"/>
            <a:ext cx="201168" cy="20116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88536" y="4700016"/>
            <a:ext cx="201168" cy="20116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34455" y="3557016"/>
            <a:ext cx="201168" cy="20116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88936" y="4151376"/>
            <a:ext cx="201168" cy="20116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34856" y="2734056"/>
            <a:ext cx="201168" cy="20116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80776" y="2048256"/>
            <a:ext cx="201168" cy="201168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325880"/>
            <a:ext cx="1069848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5500" b="1" i="0">
                <a:solidFill>
                  <a:srgbClr val="E8784A"/>
                </a:solidFill>
                <a:latin typeface="Playfair Display"/>
              </a:rPr>
              <a:t>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423160"/>
            <a:ext cx="99669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0" i="1">
                <a:solidFill>
                  <a:srgbClr val="5C2E0A"/>
                </a:solidFill>
                <a:latin typeface="Inter"/>
              </a:rPr>
              <a:t>From Wandering to Wondering — Discover Places, Connected.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3154680"/>
            <a:ext cx="443484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3163824"/>
            <a:ext cx="44348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E8784A"/>
                </a:solidFill>
                <a:latin typeface="Inter"/>
              </a:rPr>
              <a:t>FINAL STARTUP PITCH  •  BRIDGEAURA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577840"/>
            <a:ext cx="66751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8B6B58"/>
                </a:solidFill>
                <a:latin typeface="Inter"/>
              </a:rPr>
              <a:t>AI-powered, journey-first local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People Want to Explore — But Don't Know Where to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42900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6362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72768"/>
            <a:ext cx="277063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Too Generic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3118104" cy="2651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Map apps show destinations, not journeys. Users get a list of places — not a connected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342900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56362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572768"/>
            <a:ext cx="277063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Decision Paralysis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118104" cy="2651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“I want to do something interesting, but where do I even start?” Most users give up before they begin.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520440" cy="342900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56362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572768"/>
            <a:ext cx="277063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Disconnected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39112"/>
            <a:ext cx="3118104" cy="2651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Reviews, routes, photos and timings are spread across multiple apps. Nothing ties the experience together.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The gap: discovery should begin with the journey, not a search 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424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8B6B58"/>
                </a:solidFill>
                <a:latin typeface="Inter"/>
              </a:rPr>
              <a:t>A large discovery market — with a very human problem underneath.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30175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E8784A"/>
                </a:solidFill>
                <a:latin typeface="Playfair Display"/>
              </a:rPr>
              <a:t>500M+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56232"/>
            <a:ext cx="30175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5C2E0A"/>
                </a:solidFill>
                <a:latin typeface="Inter"/>
              </a:rPr>
              <a:t>urban millennials &amp; Gen Z seeking experiential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417320"/>
            <a:ext cx="30175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E8784A"/>
                </a:solidFill>
                <a:latin typeface="Playfair Display"/>
              </a:rPr>
              <a:t>800+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56232"/>
            <a:ext cx="30175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5C2E0A"/>
                </a:solidFill>
                <a:latin typeface="Inter"/>
              </a:rPr>
              <a:t>Indian tier-1 &amp; tier-2 cities with local discovery potential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417320"/>
            <a:ext cx="30175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E8784A"/>
                </a:solidFill>
                <a:latin typeface="Playfair Display"/>
              </a:rPr>
              <a:t>$40B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856232"/>
            <a:ext cx="30175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5C2E0A"/>
                </a:solidFill>
                <a:latin typeface="Inter"/>
              </a:rPr>
              <a:t>projected travel &amp; navigation app market by 2028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71800"/>
            <a:ext cx="10332720" cy="233172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11810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27248"/>
            <a:ext cx="958291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Playfair Display"/>
              </a:rPr>
              <a:t>The emotional reality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593592"/>
            <a:ext cx="9930384" cy="15544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5C2E0A"/>
                </a:solidFill>
                <a:latin typeface="Inter"/>
              </a:rPr>
              <a:t>“That was more interesting than visiting one place.”
“I didn’t know these places were even connected.”
TRAIL turns isolated pins into a story people can walk through.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The future of exploration is not a pin on a map. It’s a story you walk through.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Introducing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424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8B6B58"/>
                </a:solidFill>
                <a:latin typeface="Inter"/>
              </a:rPr>
              <a:t>The Journey-First Discovery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0" i="0">
                <a:solidFill>
                  <a:srgbClr val="5C2E0A"/>
                </a:solidFill>
                <a:latin typeface="Inter"/>
              </a:rPr>
              <a:t>For explorers and curious wanderers who feel overwhelmed by generic map apps,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103327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E8784A"/>
                </a:solidFill>
                <a:latin typeface="Playfair Display"/>
              </a:rPr>
              <a:t>TRAIL builds personalised connected journeys — not just a list of places.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88920"/>
            <a:ext cx="3520440" cy="201168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93522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44368"/>
            <a:ext cx="277063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Journey-First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410712"/>
            <a:ext cx="3118104" cy="12344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Start with time + mood and get a full route.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788920"/>
            <a:ext cx="3520440" cy="201168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93522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944368"/>
            <a:ext cx="277063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AI-Curated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410712"/>
            <a:ext cx="3118104" cy="12344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Personalised stops based on interests and constraints.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788920"/>
            <a:ext cx="3520440" cy="201168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293522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944368"/>
            <a:ext cx="277063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Connected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3410712"/>
            <a:ext cx="3118104" cy="12344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Places are linked into one coherent story.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Unlike destination-first apps, TRAIL connects nearby experiences into one walkable journey.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Your Trail in 3 Simple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154680" cy="352044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6362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72768"/>
            <a:ext cx="240487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784A"/>
                </a:solidFill>
                <a:latin typeface="Playfair Display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2752344" cy="2743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C2E0A"/>
                </a:solidFill>
                <a:latin typeface="Inter"/>
              </a:rPr>
              <a:t>Mood • available time • distance • starting point
→ “2 hours, historic + café”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67912" y="3063240"/>
            <a:ext cx="219456" cy="0"/>
          </a:xfrm>
          <a:prstGeom prst="line">
            <a:avLst/>
          </a:prstGeom>
          <a:ln w="3810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60520" y="1417320"/>
            <a:ext cx="3154680" cy="352044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56362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72768"/>
            <a:ext cx="240487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784A"/>
                </a:solidFill>
                <a:latin typeface="Playfair Display"/>
              </a:rPr>
              <a:t>AI TRAIL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039112"/>
            <a:ext cx="2752344" cy="2743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C2E0A"/>
                </a:solidFill>
                <a:latin typeface="Inter"/>
              </a:rPr>
              <a:t>POI data • preferences • time/distance • context
→ Connected multi-stop trail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42631" y="3063240"/>
            <a:ext cx="219457" cy="0"/>
          </a:xfrm>
          <a:prstGeom prst="line">
            <a:avLst/>
          </a:prstGeom>
          <a:ln w="3810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35240" y="1417320"/>
            <a:ext cx="3154680" cy="352044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156362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72768"/>
            <a:ext cx="240487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E8784A"/>
                </a:solidFill>
                <a:latin typeface="Playfair Display"/>
              </a:rP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039112"/>
            <a:ext cx="2752344" cy="2743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C2E0A"/>
                </a:solidFill>
                <a:latin typeface="Inter"/>
              </a:rPr>
              <a:t>Route • descriptions • progress • recap • sharing
→ A journey you can actually follow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INPUT → AI → CONNECTED JOURNEY  •  Not just a pin. A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Clean, Warm, Intuitive — Designed to Delight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424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8B6B58"/>
                </a:solidFill>
                <a:latin typeface="Inter"/>
              </a:rPr>
              <a:t>Core screens from the TRAIL product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29000" cy="178308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72768"/>
            <a:ext cx="302666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HOME / 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3026664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Nearby trails, trending routes, mood filters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429000" cy="178308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572768"/>
            <a:ext cx="302666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039112"/>
            <a:ext cx="3026664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Interests, typical time, home 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429000" cy="178308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572768"/>
            <a:ext cx="302666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TRAIL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039112"/>
            <a:ext cx="3026664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Connected route, stops, distance, ETA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429000" cy="178308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721608"/>
            <a:ext cx="302666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AI ASSIST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87952"/>
            <a:ext cx="3026664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Natural-language trail requests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566160"/>
            <a:ext cx="3429000" cy="178308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721608"/>
            <a:ext cx="302666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TRAIL RECAP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187952"/>
            <a:ext cx="3026664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Places visited, distance, badge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66160"/>
            <a:ext cx="3429000" cy="178308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6488" y="3721608"/>
            <a:ext cx="302666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4187952"/>
            <a:ext cx="3026664" cy="10058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Saved trails, history, sharing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15000"/>
            <a:ext cx="2011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84A"/>
                </a:solidFill>
                <a:latin typeface="Playfair Display"/>
              </a:rPr>
              <a:t>Design principles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650992"/>
            <a:ext cx="1874519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5660136"/>
            <a:ext cx="1874519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E8784A"/>
                </a:solidFill>
                <a:latin typeface="Inter"/>
              </a:rPr>
              <a:t>Warm earthy tones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5650992"/>
            <a:ext cx="141732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5660136"/>
            <a:ext cx="14173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E8784A"/>
                </a:solidFill>
                <a:latin typeface="Inter"/>
              </a:rPr>
              <a:t>Mobile-first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5650992"/>
            <a:ext cx="132588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5660136"/>
            <a:ext cx="13258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E8784A"/>
                </a:solidFill>
                <a:latin typeface="Inter"/>
              </a:rPr>
              <a:t>Accessible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5650992"/>
            <a:ext cx="141732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5660136"/>
            <a:ext cx="14173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E8784A"/>
                </a:solidFill>
                <a:latin typeface="Inter"/>
              </a:rPr>
              <a:t>Responsive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The Intelligence Behind Every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424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8B6B58"/>
                </a:solidFill>
                <a:latin typeface="Inter"/>
              </a:rPr>
              <a:t>TRAIL Scout — AI/Data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234440"/>
            <a:ext cx="224028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4358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E8784A"/>
                </a:solidFill>
                <a:latin typeface="Inter"/>
              </a:rP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261872"/>
            <a:ext cx="4937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C2E0A"/>
                </a:solidFill>
                <a:latin typeface="Inter"/>
              </a:rPr>
              <a:t>Mood + time + location + interests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1655064"/>
            <a:ext cx="0" cy="475488"/>
          </a:xfrm>
          <a:prstGeom prst="line">
            <a:avLst/>
          </a:prstGeom>
          <a:ln w="2540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2148840"/>
            <a:ext cx="224028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5798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E8784A"/>
                </a:solidFill>
                <a:latin typeface="Inter"/>
              </a:rPr>
              <a:t>TRAIL AI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76272"/>
            <a:ext cx="4937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C2E0A"/>
                </a:solidFill>
                <a:latin typeface="Inter"/>
              </a:rPr>
              <a:t>LLM + recommendation logic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5960" y="2569464"/>
            <a:ext cx="0" cy="475488"/>
          </a:xfrm>
          <a:prstGeom prst="line">
            <a:avLst/>
          </a:prstGeom>
          <a:ln w="2540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" y="3063240"/>
            <a:ext cx="224028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72384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E8784A"/>
                </a:solidFill>
                <a:latin typeface="Inter"/>
              </a:rPr>
              <a:t>CONTEXT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090672"/>
            <a:ext cx="4937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C2E0A"/>
                </a:solidFill>
                <a:latin typeface="Inter"/>
              </a:rPr>
              <a:t>Local data + constraints + relevance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65960" y="3483864"/>
            <a:ext cx="0" cy="475488"/>
          </a:xfrm>
          <a:prstGeom prst="line">
            <a:avLst/>
          </a:prstGeom>
          <a:ln w="2540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8680" y="3977639"/>
            <a:ext cx="224028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86783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E8784A"/>
                </a:solidFill>
                <a:latin typeface="Inter"/>
              </a:rPr>
              <a:t>TRAIL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005072"/>
            <a:ext cx="4937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C2E0A"/>
                </a:solidFill>
                <a:latin typeface="Inter"/>
              </a:rPr>
              <a:t>Connected multi-stop route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65960" y="4398264"/>
            <a:ext cx="0" cy="475488"/>
          </a:xfrm>
          <a:prstGeom prst="line">
            <a:avLst/>
          </a:prstGeom>
          <a:ln w="2540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8680" y="4892040"/>
            <a:ext cx="224028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01183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E8784A"/>
                </a:solidFill>
                <a:latin typeface="Inter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919472"/>
            <a:ext cx="4937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C2E0A"/>
                </a:solidFill>
                <a:latin typeface="Inter"/>
              </a:rPr>
              <a:t>Map + stops + narrative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1234440"/>
            <a:ext cx="2971800" cy="361188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14232" y="138074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1389888"/>
            <a:ext cx="222199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AI capabilities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808" y="1856232"/>
            <a:ext cx="2569464" cy="2834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Natural-language input
Geospatial relevance
Preference-aware matching
Context-aware generation
Deterministic fallback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AI is used to turn user intent + curated local data into a useful journey.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What Powers TRAIL's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424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8B6B58"/>
                </a:solidFill>
                <a:latin typeface="Inter"/>
              </a:rPr>
              <a:t>Curated local data → AI processing → connected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96596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4358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8784A"/>
                </a:solidFill>
                <a:latin typeface="Inter"/>
              </a:rPr>
              <a:t>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271016"/>
            <a:ext cx="83210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OpenStreetMap • Goa Tourism • field curation • community submissions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1618488"/>
            <a:ext cx="0" cy="310896"/>
          </a:xfrm>
          <a:prstGeom prst="line">
            <a:avLst/>
          </a:prstGeom>
          <a:ln w="2159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1947672"/>
            <a:ext cx="196596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56815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8784A"/>
                </a:solidFill>
                <a:latin typeface="Inter"/>
              </a:rPr>
              <a:t>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984248"/>
            <a:ext cx="83210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Deduplication • category normalization • coordinate &amp; hours checks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45920" y="2331720"/>
            <a:ext cx="0" cy="310895"/>
          </a:xfrm>
          <a:prstGeom prst="line">
            <a:avLst/>
          </a:prstGeom>
          <a:ln w="2159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2660904"/>
            <a:ext cx="196596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70048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8784A"/>
                </a:solidFill>
                <a:latin typeface="Inter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697480"/>
            <a:ext cx="83210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Typed Spot objects • backend dataset • frontend mirror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45920" y="3044952"/>
            <a:ext cx="0" cy="310896"/>
          </a:xfrm>
          <a:prstGeom prst="line">
            <a:avLst/>
          </a:prstGeom>
          <a:ln w="2159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3374136"/>
            <a:ext cx="196596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83279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8784A"/>
                </a:solidFill>
                <a:latin typeface="Inter"/>
              </a:rPr>
              <a:t>AI /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410712"/>
            <a:ext cx="83210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Gemini + deterministic keyword/vibe fallback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45920" y="3758184"/>
            <a:ext cx="0" cy="310896"/>
          </a:xfrm>
          <a:prstGeom prst="line">
            <a:avLst/>
          </a:prstGeom>
          <a:ln w="2159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5800" y="4087368"/>
            <a:ext cx="196596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96512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8784A"/>
                </a:solidFill>
                <a:latin typeface="Inter"/>
              </a:rPr>
              <a:t>USER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123944"/>
            <a:ext cx="83210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Natural-language request with time/location/preferences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45920" y="4471416"/>
            <a:ext cx="0" cy="310896"/>
          </a:xfrm>
          <a:prstGeom prst="line">
            <a:avLst/>
          </a:prstGeom>
          <a:ln w="2159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4800600"/>
            <a:ext cx="196596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E8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0974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E8784A"/>
                </a:solidFill>
                <a:latin typeface="Inter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837176"/>
            <a:ext cx="83210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Curated trail / chat response with relevant places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806440"/>
            <a:ext cx="749807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E8784A"/>
                </a:solidFill>
                <a:latin typeface="Inter"/>
              </a:rPr>
              <a:t>🔒 Privacy: no real PII used; public/anonymised/synthetic data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Who Is TRAIL For?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424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8B6B58"/>
                </a:solidFill>
                <a:latin typeface="Inter"/>
              </a:rPr>
              <a:t>Three early-user personas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520440" cy="352044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51790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27048"/>
            <a:ext cx="277063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The Urban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93392"/>
            <a:ext cx="3118104" cy="2743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22–35
Students &amp; young professionals
Wants authentic local experiences beyond “Top 10” 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352044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51790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527048"/>
            <a:ext cx="277063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The Weekend Wanderer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93392"/>
            <a:ext cx="3118104" cy="2743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28–45
Working professionals &amp; couples
Has 2–4 free hours and wants a ready-made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520440" cy="352044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51790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527048"/>
            <a:ext cx="277063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The Experience Sharer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93392"/>
            <a:ext cx="3118104" cy="2743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C2E0A"/>
                </a:solidFill>
                <a:latin typeface="Inter"/>
              </a:rPr>
              <a:t>18–30
Social-media native
Wants shareable routes, recap cards and discovery moments.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Start with curious urban explorers — then expand through communities, businesses and tourism partners.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The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834640"/>
                <a:gridCol w="6080760"/>
              </a:tblGrid>
              <a:tr h="6934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Competitor</a:t>
                      </a:r>
                    </a:p>
                  </a:txBody>
                  <a:tcPr marL="54864" marR="54864" marT="32004" marB="32004">
                    <a:solidFill>
                      <a:srgbClr val="E87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Strength</a:t>
                      </a:r>
                    </a:p>
                  </a:txBody>
                  <a:tcPr marL="54864" marR="54864" marT="32004" marB="32004">
                    <a:solidFill>
                      <a:srgbClr val="E87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Gap TRAIL targets</a:t>
                      </a:r>
                    </a:p>
                  </a:txBody>
                  <a:tcPr marL="54864" marR="54864" marT="32004" marB="32004">
                    <a:solidFill>
                      <a:srgbClr val="E8784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Google Maps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Massive POI + navigation data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Destination-first; limited journey curation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TripAdvisor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Rich reviews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No connected multi-stop journey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Strava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Strong activity community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Fitness-focused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AllTrails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Detailed trail data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Primarily nature/hiking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Foursquare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Local place data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No AI trail generation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TRAIL's white space: connected, AI-curated, multi-stop local journeys.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Why TRAIL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7218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81328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Journey-First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C2E0A"/>
                </a:solidFill>
                <a:latin typeface="Inter"/>
              </a:rPr>
              <a:t>We build an experience with a beginning, middle and end — not a list of pins.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47218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481328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AI That Understands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4767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C2E0A"/>
                </a:solidFill>
                <a:latin typeface="Inter"/>
              </a:rPr>
              <a:t>Natural-language input + preference-aware matching makes discovery feel personal.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6616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71246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21608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Connected Place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18795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C2E0A"/>
                </a:solidFill>
                <a:latin typeface="Inter"/>
              </a:rPr>
              <a:t>Places can be linked by proximity, theme and timing to form a flowing route.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6616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71246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721608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Community &amp; Retention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18795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C2E0A"/>
                </a:solidFill>
                <a:latin typeface="Inter"/>
              </a:rPr>
              <a:t>Badges, recaps, sharing and feedback can turn one trail into repeat discovery.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Positioning: TRAIL thinks about your journey, not just your destination.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How TRAIL Makes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26463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35607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Freemium →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0195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5C2E0A"/>
                </a:solidFill>
                <a:latin typeface="Inter"/>
              </a:rPr>
              <a:t>Free discovery + premium AI/recaps/offline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743200"/>
            <a:ext cx="182880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752344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D4A574"/>
                </a:solidFill>
                <a:latin typeface="Inter"/>
              </a:rPr>
              <a:t>₹199/mo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26463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435607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B2B Local Listings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0195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5C2E0A"/>
                </a:solidFill>
                <a:latin typeface="Inter"/>
              </a:rPr>
              <a:t>Businesses pay to be featured as relevant trail stops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743200"/>
            <a:ext cx="182880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752344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D4A574"/>
                </a:solidFill>
                <a:latin typeface="Inter"/>
              </a:rPr>
              <a:t>₹2K–₹10K/mo concept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044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66674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675888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Tourism Partnerships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14223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5C2E0A"/>
                </a:solidFill>
                <a:latin typeface="Inter"/>
              </a:rPr>
              <a:t>Branded city/state trail collections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983480"/>
            <a:ext cx="182880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4992624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D4A574"/>
                </a:solidFill>
                <a:latin typeface="Inter"/>
              </a:rPr>
              <a:t>₹5L–₹25L/campaign concept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52044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366674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675888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Data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14223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5C2E0A"/>
                </a:solidFill>
                <a:latin typeface="Inter"/>
              </a:rPr>
              <a:t>Anonymised discovery trends for B2B partners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4983480"/>
            <a:ext cx="1828800" cy="384048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992624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D4A574"/>
                </a:solidFill>
                <a:latin typeface="Inter"/>
              </a:rPr>
              <a:t>Future B2B SaaS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Multiple revenue streams reduce dependence on a single customer segment.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Go-To-Market: Start Local, Then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3429000" cy="333756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0934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18488"/>
            <a:ext cx="267919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01 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84832"/>
            <a:ext cx="3026664" cy="2560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C2E0A"/>
                </a:solidFill>
                <a:latin typeface="Inter"/>
              </a:rPr>
              <a:t>Months 1–3
Pilot city launch
Local business/heritage partners
Creator-led hidden-gems content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3063240"/>
            <a:ext cx="301752" cy="0"/>
          </a:xfrm>
          <a:prstGeom prst="line">
            <a:avLst/>
          </a:prstGeom>
          <a:ln w="3810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0560" y="1463040"/>
            <a:ext cx="3429000" cy="333756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60934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618488"/>
            <a:ext cx="267919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02  GROW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084832"/>
            <a:ext cx="3026664" cy="2560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C2E0A"/>
                </a:solidFill>
                <a:latin typeface="Inter"/>
              </a:rPr>
              <a:t>Months 4–9
Referrals + community events
Social content + targeted ads
Early tourism partnerships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3063240"/>
            <a:ext cx="301752" cy="0"/>
          </a:xfrm>
          <a:prstGeom prst="line">
            <a:avLst/>
          </a:prstGeom>
          <a:ln w="38100">
            <a:solidFill>
              <a:srgbClr val="D4A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75320" y="1463040"/>
            <a:ext cx="3429000" cy="333756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60934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618488"/>
            <a:ext cx="267919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03 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084832"/>
            <a:ext cx="3026664" cy="2560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C2E0A"/>
                </a:solidFill>
                <a:latin typeface="Inter"/>
              </a:rPr>
              <a:t>Months 10–18
More cities
Tourism-board collections
B2B / corporate experiences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Acquisition engine: local content → community trails → referrals → partnerships.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3-Year Financial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424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8B6B58"/>
                </a:solidFill>
                <a:latin typeface="Inter"/>
              </a:rPr>
              <a:t>Financial figures are projections from the Member 4 D8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234440"/>
          <a:ext cx="70408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645920"/>
                <a:gridCol w="1645920"/>
                <a:gridCol w="1691640"/>
              </a:tblGrid>
              <a:tr h="630936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32004" marB="32004">
                    <a:solidFill>
                      <a:srgbClr val="E87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Year 1</a:t>
                      </a:r>
                    </a:p>
                  </a:txBody>
                  <a:tcPr marL="54864" marR="54864" marT="32004" marB="32004">
                    <a:solidFill>
                      <a:srgbClr val="E87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Year 2</a:t>
                      </a:r>
                    </a:p>
                  </a:txBody>
                  <a:tcPr marL="54864" marR="54864" marT="32004" marB="32004">
                    <a:solidFill>
                      <a:srgbClr val="E878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Year 3</a:t>
                      </a:r>
                    </a:p>
                  </a:txBody>
                  <a:tcPr marL="54864" marR="54864" marT="32004" marB="32004">
                    <a:solidFill>
                      <a:srgbClr val="E8784A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Revenue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₹34.7L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₹1.57Cr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₹6.4Cr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Funding requirement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₹25L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Break-even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Month 7*</a:t>
                      </a: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32004" marB="32004">
                    <a:solidFill>
                      <a:srgbClr val="FDE8D0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Focus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Validate + launch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Scale city/partner base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5C2E0A"/>
                          </a:solidFill>
                          <a:latin typeface="Inter"/>
                        </a:defRPr>
                      </a:pPr>
                      <a:r>
                        <a:t>Expand + monetise</a:t>
                      </a:r>
                    </a:p>
                  </a:txBody>
                  <a:tcPr marL="54864" marR="54864" marT="32004" marB="32004">
                    <a:solidFill>
                      <a:srgbClr val="FFF0E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01000" y="1234440"/>
            <a:ext cx="3520440" cy="315468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38074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389888"/>
            <a:ext cx="277063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Key unit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856232"/>
            <a:ext cx="3118104" cy="23774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C2E0A"/>
                </a:solidFill>
                <a:latin typeface="Inter"/>
              </a:rPr>
              <a:t>Annual Club LTV:CAC: 37.9×
Merchant LTV:CAC: 88.8×
Funding ask: ₹25 lakh
*Break-even definition/assumptions should be stated consistently in the final submission.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0"/>
            <a:ext cx="105156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19" b="0" i="0">
                <a:solidFill>
                  <a:srgbClr val="8B6B58"/>
                </a:solidFill>
                <a:latin typeface="Inter"/>
              </a:rPr>
              <a:t>Forecasts, not historical results. Assumptions include conversion, retention, merchant churn, AI/API cost and payment-fee benchmarks.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The financial model is designed around a ₹25 lakh initial funding requirement.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Building TRAIL,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370332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72768"/>
            <a:ext cx="224942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0–6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39112"/>
            <a:ext cx="2249424" cy="29260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5C2E0A"/>
                </a:solidFill>
                <a:latin typeface="Inter"/>
              </a:rPr>
              <a:t>Foundation
MVP + core AI engine
Curated Panaji pilot
Beta users + local partners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417320"/>
            <a:ext cx="2651760" cy="370332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572768"/>
            <a:ext cx="224942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6–12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039112"/>
            <a:ext cx="2249424" cy="29260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5C2E0A"/>
                </a:solidFill>
                <a:latin typeface="Inter"/>
              </a:rPr>
              <a:t>Growth
Premium layer
Referral/community loop
Additional city pilots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417320"/>
            <a:ext cx="2651760" cy="370332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572768"/>
            <a:ext cx="224942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YEAR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039112"/>
            <a:ext cx="2249424" cy="29260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5C2E0A"/>
                </a:solidFill>
                <a:latin typeface="Inter"/>
              </a:rPr>
              <a:t>Scale
B2B dashboard
Tourism partnerships
Data insights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417320"/>
            <a:ext cx="2651760" cy="370332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1572768"/>
            <a:ext cx="224942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YEAR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2039112"/>
            <a:ext cx="2249424" cy="29260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5C2E0A"/>
                </a:solidFill>
                <a:latin typeface="Inter"/>
              </a:rPr>
              <a:t>Expansion
More cities/regions
Marketplace potential
Larger tourism partnerships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Roadmap principle: prove the journey experience locally before scaling the network.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The Builders Behind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424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8B6B58"/>
                </a:solidFill>
                <a:latin typeface="Inter"/>
              </a:rPr>
              <a:t>A cross-functional team spanning product, technology, AI/data and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7218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81328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Purva Mapari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4767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5C2E0A"/>
                </a:solidFill>
                <a:latin typeface="Inter"/>
              </a:rPr>
              <a:t>Product / UX
User journey • product experience • 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7218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481328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Nidhi Kansekar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4767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5C2E0A"/>
                </a:solidFill>
                <a:latin typeface="Inter"/>
              </a:rPr>
              <a:t>AI / Data / Finance
TRAIL Scout • data strategy • financial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71246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21608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Kalpesh Karpe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8795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5C2E0A"/>
                </a:solidFill>
                <a:latin typeface="Inter"/>
              </a:rPr>
              <a:t>Technology / Product
Technology • implementation • product development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66160"/>
            <a:ext cx="5120640" cy="1874519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71246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721608"/>
            <a:ext cx="4370831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Chanda Sharma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187952"/>
            <a:ext cx="4718303" cy="1097279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5C2E0A"/>
                </a:solidFill>
                <a:latin typeface="Inter"/>
              </a:rPr>
              <a:t>Business / Growth
Business model • research • growth &amp; partnerships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PURVA  •  NIDHI  •  KALPESH  •  CHANDA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6984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E8784A"/>
                </a:solidFill>
                <a:latin typeface="Playfair Display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424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8B6B58"/>
                </a:solidFill>
                <a:latin typeface="Inter"/>
              </a:rPr>
              <a:t>What TRAIL needs to move from validated concept to scalable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D4A574"/>
                </a:solidFill>
                <a:latin typeface="Inter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8B6B58"/>
                </a:solidFill>
                <a:latin typeface="Inter"/>
              </a:rPr>
              <a:t>TRAIL  •  From Wandering to Wondering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548640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4000" b="1" i="0">
                <a:solidFill>
                  <a:srgbClr val="E8784A"/>
                </a:solidFill>
                <a:latin typeface="Playfair Display"/>
              </a:rPr>
              <a:t>₹25,00,000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5303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8B6B58"/>
                </a:solidFill>
                <a:latin typeface="Inter"/>
              </a:rPr>
              <a:t>INITIAL FUNDING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234440"/>
            <a:ext cx="2057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5C2E0A"/>
                </a:solidFill>
                <a:latin typeface="Inter"/>
              </a:rPr>
              <a:t>Runway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234440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E8784A"/>
                </a:solidFill>
                <a:latin typeface="Inter"/>
              </a:rPr>
              <a:t>₹12L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1234440"/>
            <a:ext cx="914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8B6B58"/>
                </a:solidFill>
                <a:latin typeface="Inter"/>
              </a:rPr>
              <a:t>48%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9384"/>
            <a:ext cx="2057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5C2E0A"/>
                </a:solidFill>
                <a:latin typeface="Inter"/>
              </a:rPr>
              <a:t>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929384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E8784A"/>
                </a:solidFill>
                <a:latin typeface="Inter"/>
              </a:rPr>
              <a:t>₹5L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1929384"/>
            <a:ext cx="914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8B6B58"/>
                </a:solidFill>
                <a:latin typeface="Inter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24328"/>
            <a:ext cx="2057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5C2E0A"/>
                </a:solidFill>
                <a:latin typeface="Inter"/>
              </a:rPr>
              <a:t>Field scouting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62432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E8784A"/>
                </a:solidFill>
                <a:latin typeface="Inter"/>
              </a:rPr>
              <a:t>₹1.8L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624328"/>
            <a:ext cx="914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8B6B58"/>
                </a:solidFill>
                <a:latin typeface="Inter"/>
              </a:rPr>
              <a:t>7.2%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319272"/>
            <a:ext cx="2057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5C2E0A"/>
                </a:solidFill>
                <a:latin typeface="Inter"/>
              </a:rPr>
              <a:t>AI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319272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E8784A"/>
                </a:solidFill>
                <a:latin typeface="Inter"/>
              </a:rPr>
              <a:t>₹1.5L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319272"/>
            <a:ext cx="914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8B6B58"/>
                </a:solidFill>
                <a:latin typeface="Inter"/>
              </a:rPr>
              <a:t>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014216"/>
            <a:ext cx="2057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5C2E0A"/>
                </a:solidFill>
                <a:latin typeface="Inter"/>
              </a:rPr>
              <a:t>Legal / contingency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014216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E8784A"/>
                </a:solidFill>
                <a:latin typeface="Inter"/>
              </a:rPr>
              <a:t>₹2L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4014216"/>
            <a:ext cx="914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8B6B58"/>
                </a:solidFill>
                <a:latin typeface="Inter"/>
              </a:rPr>
              <a:t>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709160"/>
            <a:ext cx="2057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5C2E0A"/>
                </a:solidFill>
                <a:latin typeface="Inter"/>
              </a:rPr>
              <a:t>CapEx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709160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50" b="1" i="0">
                <a:solidFill>
                  <a:srgbClr val="E8784A"/>
                </a:solidFill>
                <a:latin typeface="Inter"/>
              </a:rPr>
              <a:t>₹2.7L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4709160"/>
            <a:ext cx="9144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8B6B58"/>
                </a:solidFill>
                <a:latin typeface="Inter"/>
              </a:rPr>
              <a:t>10.8%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49240"/>
            <a:ext cx="996696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5C2E0A"/>
                </a:solidFill>
                <a:latin typeface="Inter"/>
              </a:rPr>
              <a:t>Also seeking: pilot partners • tourism connections • product/AI mentors • local business network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144768"/>
            <a:ext cx="12191695" cy="530352"/>
          </a:xfrm>
          <a:prstGeom prst="rect">
            <a:avLst/>
          </a:prstGeom>
          <a:solidFill>
            <a:srgbClr val="E8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217920"/>
            <a:ext cx="10972800" cy="34747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Use the capital to strengthen the product, validate acquisition and build the local discovery network.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411480"/>
            <a:ext cx="2011680" cy="2011680"/>
          </a:xfrm>
          <a:prstGeom prst="ellipse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806440"/>
            <a:ext cx="1371600" cy="1371600"/>
          </a:xfrm>
          <a:prstGeom prst="ellipse">
            <a:avLst/>
          </a:prstGeom>
          <a:solidFill>
            <a:srgbClr val="F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800" b="1" i="0">
                <a:solidFill>
                  <a:srgbClr val="E8784A"/>
                </a:solidFill>
                <a:latin typeface="Playfair Display"/>
              </a:rPr>
              <a:t>JOIN US ON THE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5C2E0A"/>
                </a:solidFill>
                <a:latin typeface="Playfair Display"/>
              </a:rPr>
              <a:t>We're not just building an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3272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700" b="1" i="0">
                <a:solidFill>
                  <a:srgbClr val="E8784A"/>
                </a:solidFill>
                <a:latin typeface="Playfair Display"/>
              </a:rPr>
              <a:t>We're building the way a generation
discovers the world around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49039"/>
            <a:ext cx="3337560" cy="141732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89534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04487"/>
            <a:ext cx="258775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Meaningful Exploration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370831"/>
            <a:ext cx="2935224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C2E0A"/>
                </a:solidFill>
                <a:latin typeface="Inter"/>
              </a:rPr>
              <a:t>Every trail becomes a story worth telling.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749039"/>
            <a:ext cx="3337560" cy="141732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389534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904487"/>
            <a:ext cx="258775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Local Economies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70831"/>
            <a:ext cx="2935224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C2E0A"/>
                </a:solidFill>
                <a:latin typeface="Inter"/>
              </a:rPr>
              <a:t>Every relevant trail stop can help local businesses grow.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749039"/>
            <a:ext cx="3337560" cy="1417320"/>
          </a:xfrm>
          <a:prstGeom prst="roundRect">
            <a:avLst/>
          </a:prstGeom>
          <a:solidFill>
            <a:srgbClr val="FDE8D0"/>
          </a:solidFill>
          <a:ln w="12700">
            <a:solidFill>
              <a:srgbClr val="F2D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3895344"/>
            <a:ext cx="384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8784A"/>
                </a:solidFill>
                <a:latin typeface="Inter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904487"/>
            <a:ext cx="258775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E8784A"/>
                </a:solidFill>
                <a:latin typeface="Playfair Display"/>
              </a:rPr>
              <a:t>Smarter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4370831"/>
            <a:ext cx="2935224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C2E0A"/>
                </a:solidFill>
                <a:latin typeface="Inter"/>
              </a:rPr>
              <a:t>AI helps people find experiences that fit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5C2E0A"/>
                </a:solidFill>
                <a:latin typeface="Inter"/>
              </a:rPr>
              <a:t>Purva Mapari  •  Nidhi Kansekar  •  Kalpesh Karpe  •  Chanda Sharma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44768"/>
            <a:ext cx="10332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1">
                <a:solidFill>
                  <a:srgbClr val="E8784A"/>
                </a:solidFill>
                <a:latin typeface="Inter"/>
              </a:rPr>
              <a:t>From Wandering to Wondering — Discover Places, Connected.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